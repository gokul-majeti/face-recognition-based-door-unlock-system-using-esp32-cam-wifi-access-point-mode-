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16" r:id="rId1"/>
  </p:sldMasterIdLst>
  <p:sldIdLst>
    <p:sldId id="256" r:id="rId2"/>
    <p:sldId id="257" r:id="rId3"/>
    <p:sldId id="258" r:id="rId4"/>
    <p:sldId id="262" r:id="rId5"/>
    <p:sldId id="259" r:id="rId6"/>
    <p:sldId id="265" r:id="rId7"/>
    <p:sldId id="263" r:id="rId8"/>
    <p:sldId id="260" r:id="rId9"/>
    <p:sldId id="261" r:id="rId10"/>
    <p:sldId id="266" r:id="rId11"/>
    <p:sldId id="264" r:id="rId12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2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08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77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95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61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5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996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16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91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04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23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904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9658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143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399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38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70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44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50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457200" y="3124200"/>
            <a:ext cx="6618514" cy="1226618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R="6350" algn="r">
              <a:spcBef>
                <a:spcPts val="325"/>
              </a:spcBef>
            </a:pPr>
            <a:r>
              <a:rPr lang="en-IN" sz="2400" b="1" i="1" dirty="0">
                <a:latin typeface="Arial"/>
                <a:cs typeface="Arial"/>
              </a:rPr>
              <a:t>Team Members:-</a:t>
            </a:r>
          </a:p>
          <a:p>
            <a:pPr marR="6350" algn="r">
              <a:spcBef>
                <a:spcPts val="325"/>
              </a:spcBef>
            </a:pPr>
            <a:r>
              <a:rPr lang="en-IN" sz="2400" b="1" i="1" dirty="0">
                <a:latin typeface="Arial"/>
                <a:cs typeface="Arial"/>
              </a:rPr>
              <a:t>Dhruv Agarwal – 23EEB0A12</a:t>
            </a:r>
          </a:p>
          <a:p>
            <a:pPr marR="6350" algn="r">
              <a:spcBef>
                <a:spcPts val="325"/>
              </a:spcBef>
            </a:pPr>
            <a:r>
              <a:rPr lang="en-IN" sz="2400" b="1" i="1" dirty="0">
                <a:latin typeface="Arial"/>
                <a:cs typeface="Arial"/>
              </a:rPr>
              <a:t>M. Ganesh Pavan Gokul – 23EEB0A23</a:t>
            </a:r>
            <a:endParaRPr sz="2400" b="1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0" y="381000"/>
            <a:ext cx="12192000" cy="2128788"/>
          </a:xfrm>
          <a:prstGeom prst="rect">
            <a:avLst/>
          </a:prstGeom>
        </p:spPr>
        <p:txBody>
          <a:bodyPr vert="horz" wrap="square" lIns="0" tIns="4953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095"/>
              </a:spcBef>
            </a:pPr>
            <a:r>
              <a:rPr lang="en-US" sz="4000" b="1" dirty="0">
                <a:solidFill>
                  <a:srgbClr val="002060"/>
                </a:solidFill>
                <a:latin typeface="Arial"/>
                <a:cs typeface="Arial"/>
              </a:rPr>
              <a:t>Face Recognition - Based Door Unlock System</a:t>
            </a:r>
          </a:p>
          <a:p>
            <a:pPr marL="12700" algn="ctr">
              <a:lnSpc>
                <a:spcPct val="100000"/>
              </a:lnSpc>
              <a:spcBef>
                <a:spcPts val="3095"/>
              </a:spcBef>
            </a:pPr>
            <a:r>
              <a:rPr lang="en-US" sz="4000" b="1" dirty="0">
                <a:solidFill>
                  <a:srgbClr val="002060"/>
                </a:solidFill>
                <a:latin typeface="Arial"/>
                <a:cs typeface="Arial"/>
              </a:rPr>
              <a:t>USING ESP32 CAM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4D70A4-2668-B45F-8BF7-4B8161F82AE3}"/>
              </a:ext>
            </a:extLst>
          </p:cNvPr>
          <p:cNvSpPr txBox="1"/>
          <p:nvPr/>
        </p:nvSpPr>
        <p:spPr>
          <a:xfrm>
            <a:off x="7620000" y="3124200"/>
            <a:ext cx="434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Under the Guidance Of,</a:t>
            </a: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Prof. D.V.S.S Siva Sarma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8E9EBC-1202-3B7F-295D-AEE1D918801F}"/>
              </a:ext>
            </a:extLst>
          </p:cNvPr>
          <p:cNvSpPr txBox="1"/>
          <p:nvPr/>
        </p:nvSpPr>
        <p:spPr>
          <a:xfrm>
            <a:off x="1066800" y="533400"/>
            <a:ext cx="11357495" cy="539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Traditional locks (keys, RFID, passwords) are vulnerable to duplication, loss, and theft.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and IoT advancements have made face authentication reliable and affordable.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ESP32-CAM enables low-cost, real-time facial recognition with built-in camera and Wi-Fi.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Integrating face recognition technology into access control systems provides a hands-free and secure method for authentication.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Enhanced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Restricts access to authorized individuals only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Eliminates Physical Keys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Reduces maintenance and loss risks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IoT Smart 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Demonstrates practical home/office application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Cost-Effective &amp; Scalable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Affordable alternative to commercial systems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Expandable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Supports remote monitoring, cloud logs, and mobile control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990599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</a:t>
            </a:r>
            <a:r>
              <a:rPr sz="4000" b="1" spc="-9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sz="4000" b="1" spc="-9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4000" b="1" spc="-9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4000" b="1" spc="-1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Interfacing</a:t>
            </a:r>
            <a:endParaRPr sz="4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C0C2F0-4C72-1456-5684-D9EDA2C1F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590044"/>
              </p:ext>
            </p:extLst>
          </p:nvPr>
        </p:nvGraphicFramePr>
        <p:xfrm>
          <a:off x="1066799" y="1143000"/>
          <a:ext cx="10363200" cy="52120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18833">
                  <a:extLst>
                    <a:ext uri="{9D8B030D-6E8A-4147-A177-3AD203B41FA5}">
                      <a16:colId xmlns:a16="http://schemas.microsoft.com/office/drawing/2014/main" val="3182936772"/>
                    </a:ext>
                  </a:extLst>
                </a:gridCol>
                <a:gridCol w="7844367">
                  <a:extLst>
                    <a:ext uri="{9D8B030D-6E8A-4147-A177-3AD203B41FA5}">
                      <a16:colId xmlns:a16="http://schemas.microsoft.com/office/drawing/2014/main" val="23355966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 </a:t>
                      </a:r>
                      <a:endParaRPr lang="en-IN" sz="1800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IN" sz="1800" dirty="0">
                        <a:solidFill>
                          <a:srgbClr val="7030A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4802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ESP32-CAM Module</a:t>
                      </a:r>
                      <a:endParaRPr lang="en-IN" sz="18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Microcontroller with built-in camera for image capture and face recognition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54126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FTDI Programmer</a:t>
                      </a:r>
                      <a:endParaRPr lang="en-IN" sz="18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USB-to-Serial converter for programming the ESP32-CAM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8153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5V Relay Module</a:t>
                      </a:r>
                      <a:endParaRPr lang="en-IN" sz="18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Electronic switch to control the door lock mechanism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0466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12V Battery</a:t>
                      </a:r>
                      <a:endParaRPr lang="en-IN" sz="18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Provides power to relay and lock circuit.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445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Door Lock (Solenoid)</a:t>
                      </a:r>
                      <a:endParaRPr lang="sv-SE" sz="18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Locks or unlocks the door when activated.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5293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Connecting Wires</a:t>
                      </a:r>
                      <a:endParaRPr lang="en-IN" sz="180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Jumper wires for circuit connections between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4721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7805 Voltage Regulator</a:t>
                      </a:r>
                      <a:r>
                        <a:rPr lang="en-IN" sz="18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Regulates input voltage to stable 5V DC for the circuit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6464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LEDs</a:t>
                      </a:r>
                      <a:r>
                        <a:rPr lang="en-IN" sz="18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Indicator lights for system status (power, lock/unlock status)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4754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Smoothens voltage fluctuations and stabilizes power to the module.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3988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7404 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Acts as Voltage </a:t>
                      </a:r>
                      <a:r>
                        <a:rPr lang="en-US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Leveller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 Buffer)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1630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2659D5-6723-CF4C-32B9-6C7C20D50C01}"/>
              </a:ext>
            </a:extLst>
          </p:cNvPr>
          <p:cNvSpPr txBox="1">
            <a:spLocks/>
          </p:cNvSpPr>
          <p:nvPr/>
        </p:nvSpPr>
        <p:spPr>
          <a:xfrm>
            <a:off x="3276600" y="0"/>
            <a:ext cx="113574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03B26-0169-6EAC-0F70-0AEB7EB80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762000"/>
            <a:ext cx="8763000" cy="584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01A21-CD07-F0F8-3047-E4AD4E085D8D}"/>
              </a:ext>
            </a:extLst>
          </p:cNvPr>
          <p:cNvSpPr txBox="1"/>
          <p:nvPr/>
        </p:nvSpPr>
        <p:spPr>
          <a:xfrm>
            <a:off x="2057400" y="4953000"/>
            <a:ext cx="14478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18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434D48-D6A6-7B23-F704-B7D42A54DDB3}"/>
              </a:ext>
            </a:extLst>
          </p:cNvPr>
          <p:cNvSpPr txBox="1"/>
          <p:nvPr/>
        </p:nvSpPr>
        <p:spPr>
          <a:xfrm>
            <a:off x="914400" y="533400"/>
            <a:ext cx="11049000" cy="5748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Logic Flow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ESP32-CAM connects to Wi-Fi and starts camera server on local IP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Camera captures live video stream and performs face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face is detected, system runs face recognition against enrolled face 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match found (authorized user), relay activates for 5 seconds to unlock door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LED indicates authorized access, Red LED indicates unauthorized/standby state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Programming Features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eriod"/>
            </a:pP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 Recognition System</a:t>
            </a:r>
            <a:endParaRPr lang="en-US" altLang="en-US" sz="24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Uses ESP32's built-in face detection and recognition libraries (</a:t>
            </a:r>
            <a:r>
              <a:rPr lang="en-US" altLang="en-US" dirty="0" err="1">
                <a:latin typeface="Arial Unicode MS"/>
              </a:rPr>
              <a:t>fd_forward.h</a:t>
            </a:r>
            <a:r>
              <a:rPr lang="en-US" altLang="en-US" dirty="0"/>
              <a:t>, </a:t>
            </a:r>
            <a:r>
              <a:rPr lang="en-US" altLang="en-US" dirty="0" err="1">
                <a:latin typeface="Arial Unicode MS"/>
              </a:rPr>
              <a:t>fr_forward.h</a:t>
            </a:r>
            <a:r>
              <a:rPr lang="en-US" altLang="en-US" dirty="0"/>
              <a:t>)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Supports enrollment of up to 7 faces with 5 confirmation samples per face 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Stores face data persistently in flash memory </a:t>
            </a:r>
          </a:p>
          <a:p>
            <a:pPr>
              <a:lnSpc>
                <a:spcPct val="150000"/>
              </a:lnSpc>
            </a:pPr>
            <a:endParaRPr lang="en-IN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D74DDB-9DBD-AC4F-A4E0-17766549EBAF}"/>
              </a:ext>
            </a:extLst>
          </p:cNvPr>
          <p:cNvSpPr txBox="1"/>
          <p:nvPr/>
        </p:nvSpPr>
        <p:spPr>
          <a:xfrm>
            <a:off x="1295400" y="228600"/>
            <a:ext cx="8382000" cy="819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eriod" startAt="2"/>
            </a:pP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WebSocket server (port 82) for real-time updates 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HTTP server for web interface 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Bidirectional messaging for commands and status </a:t>
            </a:r>
          </a:p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eriod" startAt="3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Hardware Control</a:t>
            </a:r>
            <a:endParaRPr lang="en-US" altLang="en-US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Relay Control (Pin2) for door lock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Green Led (Pin 13), Red Led (Pin 14)</a:t>
            </a:r>
          </a:p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lphaLcPeriod" startAt="3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Wi-fi Access Point Mode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Runs as Access Point (No Router Needed)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Self Contained System</a:t>
            </a:r>
          </a:p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lphaLcPeriod" startAt="3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Face Database Management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Adds Faces with Custom Names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Remove Individual Faces or all </a:t>
            </a:r>
            <a:r>
              <a:rPr lang="en-US" altLang="en-US">
                <a:latin typeface="Arial" panose="020B0604020202020204" pitchFamily="34" charset="0"/>
              </a:rPr>
              <a:t>enrolled Faces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lphaLcPeriod" startAt="3"/>
            </a:pPr>
            <a:endParaRPr lang="en-US" altLang="en-US" sz="2400" b="1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2400" b="1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908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E958E6-2903-86B4-C977-3B9291CAE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838200"/>
            <a:ext cx="10972801" cy="5573626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6DCA3EFA-F7FD-F748-DEC7-FC859074909C}"/>
              </a:ext>
            </a:extLst>
          </p:cNvPr>
          <p:cNvSpPr txBox="1">
            <a:spLocks/>
          </p:cNvSpPr>
          <p:nvPr/>
        </p:nvSpPr>
        <p:spPr>
          <a:xfrm>
            <a:off x="3962400" y="133085"/>
            <a:ext cx="11357495" cy="552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00965">
              <a:spcBef>
                <a:spcPts val="110"/>
              </a:spcBef>
            </a:pPr>
            <a:r>
              <a:rPr lang="en-IN" sz="3500" b="1" spc="-1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356059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782FA-CB35-1DF0-EC39-B44DC4254FEC}"/>
              </a:ext>
            </a:extLst>
          </p:cNvPr>
          <p:cNvSpPr txBox="1"/>
          <p:nvPr/>
        </p:nvSpPr>
        <p:spPr>
          <a:xfrm>
            <a:off x="1066800" y="-123255"/>
            <a:ext cx="11357495" cy="7104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Face recognition accuracy depends on lighting and camera angle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requires 5 samples per user for reliable detection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Optimal recognition distance: 0.5-1 meters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maximum of 7 users can be enrolled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Successfully implemented cost-effective face authenticated door lock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face detection and recognition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interface for remote monitoring and control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Faces are permanently stored in flash unless removed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Cloud storage for face data and access logs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Mobile app for remote control and notifications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Enhanced deep learning models for better accuracy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Access logging with timestamps and image capture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Multi-factor authentication (face + PIN/RFID)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3B58BD-D2B1-4305-E111-D29517368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253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6080BC-2DB5-88E6-4967-E7EFD90B9D80}"/>
              </a:ext>
            </a:extLst>
          </p:cNvPr>
          <p:cNvSpPr txBox="1"/>
          <p:nvPr/>
        </p:nvSpPr>
        <p:spPr>
          <a:xfrm>
            <a:off x="1066800" y="-76200"/>
            <a:ext cx="11125200" cy="6966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Learned GPIO programming for controlling relay and LED indicators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Gained experience in Wi-Fi configuration and network connectivity on ESP32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Implemented HTTP server on ESP32 for web-based control interface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Learned serial communication (UART) using FTDI for programming ESP32-CAM</a:t>
            </a: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Understood Arduino IDE programming for ESP32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Understood ESP32-CAM architecture with integrated OV2640 camera module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Understood about Wi-fi Access Point mode and how to implement it in esp32</a:t>
            </a: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Understood how to interface esp32 with different components</a:t>
            </a:r>
          </a:p>
          <a:p>
            <a:pPr marL="285750" indent="-285750" algn="l" rtl="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Understood how to store information into flash memory of esp32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ESP32-CAM is a powerful yet affordable platform for IoT-based smart security systems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Face authentication can be effectively implemented on low-cost microcontrollers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Proper power management and voltage regulation (7805) is critical for stable operation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project demonstrates practical application of embedded systems in home automation</a:t>
            </a:r>
          </a:p>
          <a:p>
            <a:pPr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CF7310-51D5-461E-A780-ECCCB7DB8699}"/>
              </a:ext>
            </a:extLst>
          </p:cNvPr>
          <p:cNvSpPr txBox="1"/>
          <p:nvPr/>
        </p:nvSpPr>
        <p:spPr>
          <a:xfrm>
            <a:off x="2971800" y="3048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Contribution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1C224-8CA9-4BF4-8F41-84EC1A0753DA}"/>
              </a:ext>
            </a:extLst>
          </p:cNvPr>
          <p:cNvSpPr txBox="1"/>
          <p:nvPr/>
        </p:nvSpPr>
        <p:spPr>
          <a:xfrm>
            <a:off x="1028700" y="1523999"/>
            <a:ext cx="47244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Dhruv Agarwal (23EEB0A12)</a:t>
            </a:r>
          </a:p>
          <a:p>
            <a:endParaRPr lang="en-IN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“I was responsible for the hardware interfacing part of the project. I connected and tested all the components with the ESP32. I verified the power supply and connections and ensured the relay, led’s, and lock work properly. And I was also responsible for initial trial of storing faces in RAM in the project and came up with the idea to store faces in flash.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9D105-6D2E-1AAC-814C-3F7B17F5E03C}"/>
              </a:ext>
            </a:extLst>
          </p:cNvPr>
          <p:cNvSpPr txBox="1"/>
          <p:nvPr/>
        </p:nvSpPr>
        <p:spPr>
          <a:xfrm>
            <a:off x="6248400" y="1524000"/>
            <a:ext cx="5105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 Ganesh Pavan Gokul (23EEB0A23)</a:t>
            </a:r>
          </a:p>
          <a:p>
            <a:endParaRPr lang="en-IN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“I worked on the software and programming part of the project. I developed and tested the Arduino code for ESP32, including logic for different led’s and lock. I also integrated the external wi-fi and wi-fi access point mode to esp32 and a web interface to make it detect and enroll users. And also responsible for finishing the project by storing faces into flash memory and also completing the project presentation.”</a:t>
            </a:r>
          </a:p>
        </p:txBody>
      </p:sp>
    </p:spTree>
    <p:extLst>
      <p:ext uri="{BB962C8B-B14F-4D97-AF65-F5344CB8AC3E}">
        <p14:creationId xmlns:p14="http://schemas.microsoft.com/office/powerpoint/2010/main" val="2762366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CF1141-A451-2027-2CE5-C608CA6E552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450" y="914400"/>
            <a:ext cx="9604550" cy="541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05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292</TotalTime>
  <Words>853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Tw Cen MT</vt:lpstr>
      <vt:lpstr>Wingdings</vt:lpstr>
      <vt:lpstr>Circuit</vt:lpstr>
      <vt:lpstr>PowerPoint Presentation</vt:lpstr>
      <vt:lpstr>PowerPoint Presentation</vt:lpstr>
      <vt:lpstr>Components used in Interfacing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ramakrishna majeti</cp:lastModifiedBy>
  <cp:revision>27</cp:revision>
  <dcterms:created xsi:type="dcterms:W3CDTF">2025-10-19T17:50:48Z</dcterms:created>
  <dcterms:modified xsi:type="dcterms:W3CDTF">2025-11-05T02:34:40Z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2025-10-19T00:00:00Z</vt:filetime>
  </property>
</Properties>
</file>